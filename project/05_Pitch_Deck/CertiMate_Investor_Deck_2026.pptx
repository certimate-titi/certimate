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96FF"/>
                </a:solidFill>
                <a:latin typeface="Arial"/>
              </a:defRPr>
            </a:pPr>
            <a:r>
              <a:t>CertiMate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AI 賦能的證照備考平台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107"/>
                </a:solidFill>
                <a:latin typeface="Arial"/>
              </a:defRPr>
            </a:pPr>
            <a:r>
              <a:t>讓每個人都考得過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Arial"/>
              </a:defRPr>
            </a:pPr>
            <a:r>
              <a:t>上傳任何學習資源，90 秒內自動生成擬真模擬考卷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合作夥伴與投資人簡報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 — 考生的三大噩夢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914400"/>
          </a:xfrm>
          <a:prstGeom prst="round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看完就忘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花 10 小時看完 YouTube</a:t>
            </a:r>
            <a:br/>
            <a:r>
              <a:t>教學影片，隔天只記得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3200400" cy="9144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找不到題庫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108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新興證照 (AI / 雲端 / ESG)</a:t>
            </a:r>
            <a:br/>
            <a:r>
              <a:t>根本沒有現成的考古題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200400" cy="91440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手寫無法數位化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108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理工科微積分、化學式等</a:t>
            </a:r>
            <a:br/>
            <a:r>
              <a:t>手寫筆記，現有工具無法辨識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C107"/>
                </a:solidFill>
                <a:latin typeface="Arial"/>
              </a:defRPr>
            </a:pPr>
            <a:r>
              <a:t>市場致命缺口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傳統題庫 (阿摩)  →  題目老舊、不支援新證照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通用 AI (ChatGPT)  →  無測驗環境、幻覺風險高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文件 AI (NotebookLM)  →  無錯題追蹤、無實戰壓迫感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0C853"/>
                </a:solidFill>
                <a:latin typeface="Arial"/>
              </a:defRPr>
            </a:pPr>
            <a:r>
              <a:t>CertiMate 填補了「AI 即時出題 + 閉環測驗 + 弱點追蹤」的市場斷層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Solution — 你的 AI 專屬備考教練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上傳任何學習資源，90 秒內自動生成擬真模擬考卷，持續追蹤弱點進行個人化特訓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00400" cy="45720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上傳資源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Arial"/>
              </a:defRPr>
            </a:pPr>
            <a:r>
              <a:t>PDF / YouTube / 手寫照片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C10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200400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AI 即時生成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Arial"/>
              </a:defRPr>
            </a:pPr>
            <a:r>
              <a:t>模擬考卷 + 心智圖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C10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200400" cy="4572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測驗 + 檢討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Arial"/>
              </a:defRPr>
            </a:pPr>
            <a:r>
              <a:t>AI 教練深度解析</a:t>
            </a:r>
            <a:br/>
            <a:r>
              <a:t>艾賓浩斯排程複習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▸ YouTube 秒轉考卷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10 小時課程也能秒轉 50 題模擬考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▸ 手寫數學 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57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Vision AI 辨識手寫筆記，KaTeX 完美渲染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▸ 艾賓浩斯記憶排程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自動推播 Google Calendar 複習任務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▸ 考題溯源 Citation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標示出自講義哪一頁、影片哪一秒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▸ AI 心智圖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257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一鍵生成互動式知識地圖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Target Customers — 目標客群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71600" cy="41148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Primary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IT / 雲端證照考生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C107"/>
                </a:solidFill>
                <a:latin typeface="Arial"/>
              </a:defRPr>
            </a:pPr>
            <a:r>
              <a:t>背景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大學生、新鮮人、轉職工程師</a:t>
            </a:r>
            <a:br/>
            <a:r>
              <a:t>AWS, Azure, GCP, AI 應用規劃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4545"/>
                </a:solidFill>
                <a:latin typeface="Arial"/>
              </a:defRPr>
            </a:pPr>
            <a:r>
              <a:t>痛點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技術日新月異，官方文件龐雜</a:t>
            </a:r>
            <a:br/>
            <a:r>
              <a:t>缺乏互動式練習環境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1371600" cy="4114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Secondary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金融與語文檢定考生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C107"/>
                </a:solidFill>
                <a:latin typeface="Arial"/>
              </a:defRPr>
            </a:pPr>
            <a:r>
              <a:t>背景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多益、JLPT、高業、初業</a:t>
            </a:r>
            <a:br/>
            <a:r>
              <a:t>理財規劃人員等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4545"/>
                </a:solidFill>
                <a:latin typeface="Arial"/>
              </a:defRPr>
            </a:pPr>
            <a:r>
              <a:t>痛點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考古題練完，錯題難統整</a:t>
            </a:r>
            <a:br/>
            <a:r>
              <a:t>手寫錯題本耗時費力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1371600" cy="4114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企業內訓 / 職訓導師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26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C107"/>
                </a:solidFill>
                <a:latin typeface="Arial"/>
              </a:defRPr>
            </a:pPr>
            <a:r>
              <a:t>背景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企業教育訓練</a:t>
            </a:r>
            <a:br/>
            <a:r>
              <a:t>政府職訓計畫講師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4545"/>
                </a:solidFill>
                <a:latin typeface="Arial"/>
              </a:defRPr>
            </a:pPr>
            <a:r>
              <a:t>痛點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出題耗時</a:t>
            </a:r>
            <a:br/>
            <a:r>
              <a:t>難追蹤學員知識盲點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Market Opportunity — 市場機會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926080" cy="16459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TAM</a:t>
            </a:r>
            <a:br/>
            <a:r>
              <a:t>全球 EdTech</a:t>
            </a:r>
            <a:br/>
            <a:r>
              <a:t>120 億 USD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2926080" cy="1645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SAM</a:t>
            </a:r>
            <a:br/>
            <a:r>
              <a:t>華語圈證照備考</a:t>
            </a:r>
            <a:br/>
            <a:r>
              <a:t>8 億 USD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2926080" cy="16459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SOM</a:t>
            </a:r>
            <a:br/>
            <a:r>
              <a:t>台灣 AI 考試工具</a:t>
            </a:r>
            <a:br/>
            <a:r>
              <a:t>500 萬 USD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Arial"/>
              </a:defRPr>
            </a:pPr>
            <a:r>
              <a:t>為什麼是「現在」？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▸ 證照市場爆發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雲端、AI、ESG 等新興證照每年更新，傳統題庫完全跟不上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▸ AI 成本雪崩式下降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983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Gemini Flash Token 成本已降至 $0.075/百萬，AI SaaS 首次具備正向毛利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▸ YouTube 學習趨勢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68% 學生使用 YouTube 主要學習管道，缺乏「影片轉考卷」工具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▸ 理工科數位化缺口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989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市場幾乎沒有工具能處理手寫數學公式的 OCR 與線上考卷渲染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Arial"/>
              </a:defRPr>
            </a:pPr>
            <a:r>
              <a:t>Competitive Analysis — 競爭優勢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阿摩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Quizlet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NotebookLM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CertiMate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YouTube 秒轉考卷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手寫數學 OCR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標準化測驗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錯題本 + 弱點追蹤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艾賓浩斯排程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考題原文溯源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AI 問答防護機制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月費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免費+廣告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$35.99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免費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96FF"/>
                          </a:solidFill>
                          <a:latin typeface="Arial"/>
                        </a:defRPr>
                      </a:pPr>
                      <a:r>
                        <a:t>199 TWD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Arial"/>
              </a:defRPr>
            </a:pPr>
            <a:r>
              <a:t>四重護城河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2651760" cy="91440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YouTube MCP</a:t>
            </a:r>
            <a:br/>
            <a:r>
              <a:t>獨家微服務架構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5577840"/>
            <a:ext cx="265176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Vision OCR</a:t>
            </a:r>
            <a:br/>
            <a:r>
              <a:t>手寫 → KaTeX 渲染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5577840"/>
            <a:ext cx="2651760" cy="9144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記憶演算法</a:t>
            </a:r>
            <a:br/>
            <a:r>
              <a:t>艾賓浩斯 +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5577840"/>
            <a:ext cx="2651760" cy="9144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數據飛輪效應</a:t>
            </a:r>
            <a:br/>
            <a:r>
              <a:t>錯題對話微調模型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Business Model — 商業模式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199 TWD/月 — 破壞性定價策略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64008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000" b="1">
                <a:solidFill>
                  <a:srgbClr val="2D2D2D"/>
                </a:solidFill>
              </a:defRPr>
            </a:pPr>
            <a:r>
              <a:t>Free  |  $0 (含廣告)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每月 3 份資源</a:t>
            </a:r>
            <a:br/>
            <a:r>
              <a:t>3 回考卷</a:t>
            </a:r>
            <a:br/>
            <a:r>
              <a:t>基礎錯題解析</a:t>
            </a:r>
            <a:br/>
            <a:r>
              <a:t>體驗 AI 威力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103120"/>
            <a:ext cx="338328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000" b="1">
                <a:solidFill>
                  <a:srgbClr val="2D2D2D"/>
                </a:solidFill>
              </a:defRPr>
            </a:pPr>
            <a:r>
              <a:t>Pro  |  199 TWD/月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2926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無限資源 + 無限考卷</a:t>
            </a:r>
            <a:br/>
            <a:r>
              <a:t>AI 教練深度解析</a:t>
            </a:r>
            <a:br/>
            <a:r>
              <a:t>手寫 OCR + 心智圖</a:t>
            </a:r>
            <a:br/>
            <a:r>
              <a:t>艾賓浩斯排程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03120"/>
            <a:ext cx="3383280" cy="64008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Ultra (Phase 4)  |  499~999 TWD/月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B2B 機構授權</a:t>
            </a:r>
            <a:br/>
            <a:r>
              <a:t>課綱自動同步</a:t>
            </a:r>
            <a:br/>
            <a:r>
              <a:t>Notion / Drive 整合</a:t>
            </a:r>
            <a:br/>
            <a:r>
              <a:t>全局成績分析儀表板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C107"/>
                </a:solidFill>
                <a:latin typeface="Arial"/>
              </a:defRPr>
            </a:pPr>
            <a:r>
              <a:t>為什麼是 199 TWD？ — 「1 字頭」的魔力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CCCCC"/>
                </a:solidFill>
                <a:latin typeface="Arial"/>
              </a:defRPr>
            </a:pPr>
            <a:r>
              <a:t>▸ 衝動購物區間：每天不到 7 元，比一杯超商咖啡還便宜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CCCCC"/>
                </a:solidFill>
                <a:latin typeface="Arial"/>
              </a:defRPr>
            </a:pPr>
            <a:r>
              <a:t>▸ 防禦性極強：大廠看不上這點利潤，新創沒有 Serverless 架構會直接虧本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CCCCC"/>
                </a:solidFill>
                <a:latin typeface="Arial"/>
              </a:defRPr>
            </a:pPr>
            <a:r>
              <a:t>▸ 一般用戶毛利 76% (151 TWD)，極端重度用戶僅些微虧損 (-57 TWD)，整體現金流極度健康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Arial"/>
              </a:defRPr>
            </a:pPr>
            <a:r>
              <a:t>Unit Economics — 財務預估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146304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&lt; $0.01</a:t>
            </a:r>
            <a:br/>
            <a:r>
              <a:t>(0.3 TWD)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Arial"/>
              </a:defRPr>
            </a:pPr>
            <a:r>
              <a:t>單份 50 頁講義</a:t>
            </a:r>
            <a:br/>
            <a:r>
              <a:t>AI 處理成本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80160"/>
            <a:ext cx="2651760" cy="1463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$1.5 USD</a:t>
            </a:r>
            <a:br/>
            <a:r>
              <a:t>(48 TWD)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Arial"/>
              </a:defRPr>
            </a:pPr>
            <a:r>
              <a:t>一般 Pro 用戶</a:t>
            </a:r>
            <a:br/>
            <a:r>
              <a:t>月均 API 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2651760" cy="1463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Arial"/>
              </a:defRPr>
            </a:pPr>
            <a:r>
              <a:t>一般用戶</a:t>
            </a:r>
            <a:br/>
            <a:r>
              <a:t>毛利率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280160"/>
            <a:ext cx="2651760" cy="14630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11 位</a:t>
            </a:r>
            <a:br/>
            <a:r>
              <a:t>Pro 用戶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Arial"/>
              </a:defRPr>
            </a:pPr>
            <a:r>
              <a:t>損益兩平</a:t>
            </a:r>
            <a:br/>
            <a:r>
              <a:t>僅需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657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Free 用戶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 用戶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月營收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月成本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月淨利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2,189 TWD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~2,000 TWD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+189 TWD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21,890 TWD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~8,000 TWD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+13,890 TWD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218,900 TWD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~50,000 TWD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+168,900 TWD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Phase 4 (B2B)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5,500+20 機構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1.3M TWD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~200,000 TWD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+1.1M TWD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Arial"/>
              </a:defRPr>
            </a:pPr>
            <a:r>
              <a:t>Phase 3 起月營收突破 20 萬 TWD → Phase 4 搭配 B2B 機構授權，年營收進入千萬級別 (1,500 萬 TWD)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 Architecture — 技術架構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全 Serverless 架構 — 縮容至 0 的成本優勢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7315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Next.js + TailwindCSS | Cloud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7315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Main API</a:t>
            </a:r>
            <a:br/>
            <a:r>
              <a:t>Node.js / Go | Cloud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474720" cy="7315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Worker</a:t>
            </a:r>
            <a:br/>
            <a:r>
              <a:t>Python FastAPI | Cloud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029200" cy="7315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OpenRouter LLM Gateway</a:t>
            </a:r>
            <a:br/>
            <a:r>
              <a:t>Gemini Flash | Claude 3.5 | GPT-4o | 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7315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YouTube MCP Server</a:t>
            </a:r>
            <a:br/>
            <a:r>
              <a:t>獨立微服務 | 逐字稿萃取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3200400" cy="7315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Cloud SQL</a:t>
            </a:r>
            <a:br/>
            <a:r>
              <a:t>PostgreSQL + pgvector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06240"/>
            <a:ext cx="3200400" cy="7315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Redis</a:t>
            </a:r>
            <a:br/>
            <a:r>
              <a:t>Rate Limiting + 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206240"/>
            <a:ext cx="3474720" cy="731520"/>
          </a:xfrm>
          <a:prstGeom prst="round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GCS + Firebase Auth</a:t>
            </a:r>
            <a:br/>
            <a:r>
              <a:t>File Storage | Email + Gmail OAuth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Arial"/>
              </a:defRPr>
            </a:pPr>
            <a:r>
              <a:t>關鍵技術決策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▸ OpenRouter LLM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577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不綁單一廠商，1ms 切換備援，99.9% 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▸ MCP 插件式架構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89787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YouTube 解析器獨立部署，擴充新來源只需新增 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▸ Redis 快取 + doc_hash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217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同一份講義只解析一次，全體用戶共享，邊際成本趨近零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5379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▸ Email + Gmail OAuth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5379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Firebase Authentication 處理註冊登入，支援 Google 一鍵綁定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AI Safety — AI 問答防護機制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確保回覆品質、控制 Token 成本、防止系統濫用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34747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96FF"/>
                </a:solidFill>
                <a:latin typeface="Arial"/>
              </a:defRPr>
            </a:pPr>
            <a:r>
              <a:t>回答範圍限定 (Scope Restriction)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AI 教練回答嚴格限定於使用者已上傳的題庫 / RAG 知識庫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每次回覆前進行 RAG 檢索比對，相似度低於門檻值即判定為「非題庫內容」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非題庫提問不觸發 LLM 生成，改回覆固定引導訊息，避免無效 Token 消耗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有效防止 AI 幻覺 (Hallucination)，所有回答皆有原文溯源依據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3474720"/>
          </a:xfrm>
          <a:prstGeom prst="round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4545"/>
                </a:solidFill>
                <a:latin typeface="Arial"/>
              </a:defRPr>
            </a:pPr>
            <a:r>
              <a:t>頻率管控與冷卻機制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短時間內連續觸發「非題庫」判定（如 10 分鐘 5 次），暫停 AI 問答功能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冷卻期（如 30 分鐘）防止惡意濫用 Token 成本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透過 Redis 計數器實現，與 API Rate Limiting 共用基礎設施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▸ 保障平台營運成本可控，維護健康毛利結構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設計哲學：CertiMate 是「專注考試的 AI 工具」而非通用聊天機器人，防護機制確保每一次 AI 互動都產生學習價值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Arial"/>
              </a:defRPr>
            </a:pPr>
            <a:r>
              <a:t>Strengths 優勢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完全中立免責，純工具定位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YouTube + Vision OCR 降維打擊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199 TWD 衝動購物定價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邊際成本遞減 (快取共享)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4864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Arial"/>
              </a:defRPr>
            </a:pPr>
            <a:r>
              <a:t>Weaknesses 劣勢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使用者冷啟動困難 (無預設內容)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API 成本受外部價格波動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初期缺乏權威性背書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核心技術護城河需持續深化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Arial"/>
              </a:defRPr>
            </a:pPr>
            <a:r>
              <a:t>Opportunities 機會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證照市場快速更迭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企業內訓轉型需求旺盛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開源模型崛起降低成本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精準廣告投放變現潛力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4864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Arial"/>
              </a:defRPr>
            </a:pPr>
            <a:r>
              <a:t>Threats 威脅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技術門檻降低，複製風險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巨頭夾擊 (NotebookLM 等)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AI 幻覺導致商譽風險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2D2D"/>
                </a:solidFill>
                <a:latin typeface="Arial"/>
              </a:defRPr>
            </a:pPr>
            <a:r>
              <a:t>▸ 版權法律爭議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Go-To-Market — 行銷與推廣策略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54864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內容行銷 &amp;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撰寫「XX 證照準備心得」等高品質文章</a:t>
            </a:r>
            <a:br/>
            <a:r>
              <a:t>文章內嵌免費試用模組</a:t>
            </a:r>
            <a:br/>
            <a:r>
              <a:t>吸引精準流量轉化為註冊用戶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011680"/>
            <a:ext cx="3383280" cy="5486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社群 &amp; 口碑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39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鎖定 Dcard 考試板、PTT License 板</a:t>
            </a:r>
            <a:br/>
            <a:r>
              <a:t>Facebook 各大證照交流社團</a:t>
            </a:r>
            <a:br/>
            <a:r>
              <a:t>前 100 名註冊者 Early Bird 優惠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383280" cy="5486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合作夥伴 &amp; 網紅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IT 技術部落客、YouTuber 合作</a:t>
            </a:r>
            <a:br/>
            <a:r>
              <a:t>聯盟行銷 (Affiliate) 抽成 20%</a:t>
            </a:r>
            <a:br/>
            <a:r>
              <a:t>線上課程講師專屬連結推廣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C107"/>
                </a:solidFill>
                <a:latin typeface="Arial"/>
              </a:defRPr>
            </a:pPr>
            <a:r>
              <a:t>轉換漏斗設計 (Conversion Funnel)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免費用戶做錯一題 → 系統顯示正確答案 + 一句話解析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↓ 下方出現上鎖的毛玻璃區塊：「點擊解鎖深度原文解析 — Pro 專屬」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↓ 當使用者對盲點極具求知慾時，只要 199 TWD 即可請 AI 教練講給他聽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C853"/>
                </a:solidFill>
                <a:latin typeface="Arial"/>
              </a:defRPr>
            </a:pPr>
            <a:r>
              <a:t>→ 大幅提升 Free → Pro 訂閱轉換率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Product Roadmap — 產品路線圖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743200" cy="91440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1</a:t>
            </a:r>
            <a:br/>
            <a:r>
              <a:t>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核心解析引擎 (PDF/MD)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考題自動生成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基礎錯題解析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C10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74320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2</a:t>
            </a:r>
            <a:br/>
            <a: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1089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使用者系統 (Email + Gmail OAuth)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YouTube MCP 秒轉考卷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互動式知識心智圖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C10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2743200" cy="9144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3</a:t>
            </a:r>
            <a:br/>
            <a:r>
              <a:t>商業化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1089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金流串接 (Stripe / 綠界)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Pro 訂閱 199 TWD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手寫 OCR + AI 教練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艾賓浩斯 + Calendar 排程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C10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743200" cy="9144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4</a:t>
            </a:r>
            <a:br/>
            <a:r>
              <a:t>生態系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1089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Ultra 旗艦版 499-999 TWD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B2B 機構授權 + 儀表板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課綱自動同步 API 整合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▸ Notion / Drive 雙向整合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Ask — 我們需要什麼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尋找策略夥伴與天使投資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類型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我們需要的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我們提供的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天使投資人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種子輪資金 300~500 萬 TWD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估值對價股權 + 董事席位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教育機構合作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封測用戶 + 真實課綱內容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免費導入 Ultra 方案 + 聯名品牌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技術合夥人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Full-stack / AI 工程師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共同創辦人 + 技術股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行銷/社群夥伴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學生社群觸及力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營收分潤 + 聯盟行銷計畫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  <a:latin typeface="Arial"/>
              </a:defRPr>
            </a:pPr>
            <a:r>
              <a:t>種子輪資金分配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4389120" cy="41148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產品開發  60%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463040" cy="4114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行銷推廣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69280"/>
            <a:ext cx="1097280" cy="4114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營運儲備 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6217920"/>
            <a:ext cx="36576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法務合約  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Invest — 為什麼投資我們？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103120" cy="228600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極低試錯成本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全 Serverless 架構</a:t>
            </a:r>
            <a:br/>
            <a:r>
              <a:t>零流量時月成本 &lt; 一杯咖啡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103120"/>
            <a:ext cx="2103120" cy="2286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極高毛利模型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一般用戶毛利率 76%</a:t>
            </a:r>
            <a:br/>
            <a:r>
              <a:t>11 位付費用戶即打平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103120"/>
            <a:ext cx="2103120" cy="22860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破壞性定價壁壘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199 TWD 讓對手</a:t>
            </a:r>
            <a:br/>
            <a:r>
              <a:t>「進來也活不了」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59" y="2103120"/>
            <a:ext cx="2103120" cy="2286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四重技術護城河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YouTube MCP + Vision OCR</a:t>
            </a:r>
            <a:br/>
            <a:r>
              <a:t>記憶演算法 + 數據飛輪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103120"/>
            <a:ext cx="2103120" cy="2286000"/>
          </a:xfrm>
          <a:prstGeom prst="round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清晰 B2B 成長路徑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Phase 4 直通補習班</a:t>
            </a:r>
            <a:br/>
            <a:r>
              <a:t>企業內訓千萬營收市場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3200" b="1">
                <a:solidFill>
                  <a:srgbClr val="FFC107"/>
                </a:solidFill>
                <a:latin typeface="Arial"/>
              </a:defRPr>
            </a:pPr>
            <a:r>
              <a:t>「NotebookLM 幫你讀懂，CertiMate 幫你考過。」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107"/>
                </a:solidFill>
                <a:latin typeface="Arial"/>
              </a:defRPr>
            </a:pPr>
            <a:r>
              <a:t>CertiMate — 讓 AI 成為每個考生的專屬備考教練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CCCCCC"/>
                </a:solidFill>
                <a:latin typeface="Arial"/>
              </a:defRPr>
            </a:pPr>
            <a:r>
              <a:t>聯繫我們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Arial"/>
              </a:defRPr>
            </a:pPr>
            <a:r>
              <a:t>Email: [your-email@example.com]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Arial"/>
              </a:defRPr>
            </a:pPr>
            <a:r>
              <a:t>產品 Demo: Coming Soon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